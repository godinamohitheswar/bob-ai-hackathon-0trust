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AI HACKATHON  ·  TEAM 0TRUST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FRAUDGRAPH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 Fraud Network Analyzer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889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scattered fraud records to a kingpin → mule → victim map and an FIR-ready case brief.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852160" y="1005840"/>
            <a:ext cx="1371600" cy="1280160"/>
          </a:xfrm>
          <a:prstGeom prst="roundRect">
            <a:avLst>
              <a:gd name="adj" fmla="val 5714"/>
            </a:avLst>
          </a:prstGeom>
          <a:solidFill>
            <a:srgbClr val="1E262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852160" y="12344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1828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60920" y="1005840"/>
            <a:ext cx="1371600" cy="1280160"/>
          </a:xfrm>
          <a:prstGeom prst="roundRect">
            <a:avLst>
              <a:gd name="adj" fmla="val 5714"/>
            </a:avLst>
          </a:prstGeom>
          <a:solidFill>
            <a:srgbClr val="1E262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60920" y="12344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520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7360920" y="1828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52160" y="2468880"/>
            <a:ext cx="1371600" cy="1280160"/>
          </a:xfrm>
          <a:prstGeom prst="roundRect">
            <a:avLst>
              <a:gd name="adj" fmla="val 5714"/>
            </a:avLst>
          </a:prstGeom>
          <a:solidFill>
            <a:srgbClr val="1E262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852160" y="2697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501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60920" y="2468880"/>
            <a:ext cx="1371600" cy="1280160"/>
          </a:xfrm>
          <a:prstGeom prst="roundRect">
            <a:avLst>
              <a:gd name="adj" fmla="val 5714"/>
            </a:avLst>
          </a:prstGeom>
          <a:solidFill>
            <a:srgbClr val="1E262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60920" y="2697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471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records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852160" y="4023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investigation dataset · modelled on Jamtara-style cyber fraud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Jamtara: fraud at scale, tracing by hand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108960" cy="3108960"/>
          </a:xfrm>
          <a:prstGeom prst="roundRect">
            <a:avLst>
              <a:gd name="adj" fmla="val 2353"/>
            </a:avLst>
          </a:prstGeom>
          <a:solidFill>
            <a:srgbClr val="1216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95,000+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fraud cases reported across India in FY2022-23 (Centre, in Parliament)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749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Jamtara: a known phishing hub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023360" y="1371600"/>
            <a:ext cx="4572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062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9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is scattered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80136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accounts, SIM cards, devices and call logs sit in separate records.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023360" y="2450592"/>
            <a:ext cx="4572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0624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9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587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is manual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288036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Investigators linked entities by hand, taking weeks per case.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023360" y="3529584"/>
            <a:ext cx="4572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06240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9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3666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network view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395935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visualization tools, the organisation behind the fraud stayed hidden.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steps from raw records to FIR brief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481328" cy="228600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60020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1F9E8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600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9456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560320"/>
            <a:ext cx="1261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CSV sources validated: cases, identities, devices, transactions, calls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29968" y="1828800"/>
            <a:ext cx="146304" cy="0"/>
          </a:xfrm>
          <a:prstGeom prst="line">
            <a:avLst/>
          </a:prstGeom>
          <a:noFill/>
          <a:ln w="22225">
            <a:solidFill>
              <a:srgbClr val="5B677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76272" y="1463040"/>
            <a:ext cx="1481328" cy="228600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79192" y="160020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1F9E8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679192" y="1600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176272" y="219456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2286000" y="2560320"/>
            <a:ext cx="1261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and links become a NetworkX case graph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0" y="1828800"/>
            <a:ext cx="146304" cy="0"/>
          </a:xfrm>
          <a:prstGeom prst="line">
            <a:avLst/>
          </a:prstGeom>
          <a:noFill/>
          <a:ln w="22225">
            <a:solidFill>
              <a:srgbClr val="5B677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803904" y="1463040"/>
            <a:ext cx="1481328" cy="228600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06824" y="160020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1F9E8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306824" y="1600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3803904" y="219456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3913632" y="2560320"/>
            <a:ext cx="1261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rule-based detectors find fraud structures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85232" y="1828800"/>
            <a:ext cx="146304" cy="0"/>
          </a:xfrm>
          <a:prstGeom prst="line">
            <a:avLst/>
          </a:prstGeom>
          <a:noFill/>
          <a:ln w="22225">
            <a:solidFill>
              <a:srgbClr val="5B677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431536" y="1463040"/>
            <a:ext cx="1481328" cy="228600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34456" y="160020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1F9E8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934456" y="1600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5431536" y="219456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5541264" y="2560320"/>
            <a:ext cx="1261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Weighted, capped priority score from 0 to 100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12864" y="1828800"/>
            <a:ext cx="146304" cy="0"/>
          </a:xfrm>
          <a:prstGeom prst="line">
            <a:avLst/>
          </a:prstGeom>
          <a:noFill/>
          <a:ln w="22225">
            <a:solidFill>
              <a:srgbClr val="5B677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059168" y="1463040"/>
            <a:ext cx="1481328" cy="228600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62088" y="160020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E4572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562088" y="1600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7059168" y="219456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7168896" y="2560320"/>
            <a:ext cx="1261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 narrative, legal sections and actions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402336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12161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priority score  ·  evidence trail  ·  kingpin → mule → victim hierarchy  ·  recommended actions  ·  FIR-ready brief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tiers, two IBM touchpoints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1031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Dashboard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659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Vite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ReactFlow graph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localhost:5173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371600"/>
            <a:ext cx="2834640" cy="2651760"/>
          </a:xfrm>
          <a:prstGeom prst="roundRect">
            <a:avLst>
              <a:gd name="adj" fmla="val 2759"/>
            </a:avLst>
          </a:prstGeom>
          <a:solidFill>
            <a:srgbClr val="12161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200400" y="1463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Backend  :8000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29000" y="1874520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1E262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8745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data_loader.py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29000" y="2276856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1E262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29000" y="227685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fraud_graph.py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29000" y="2679192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1E262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26791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pattern_detector.py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29000" y="3081528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1E262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429000" y="30815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risk_scoring.py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29000" y="3483864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1E262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429000" y="348386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fir_brief.py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0" y="137160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0" y="1463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9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watsonx.ai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1783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Granite 3-8B writes the FIR narrative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0" y="274320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0" y="2834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FraudGraph MCP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675120" y="31546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Node/TypeScript server exposes one tool to IBM Bob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651760" y="2423160"/>
            <a:ext cx="548640" cy="0"/>
          </a:xfrm>
          <a:prstGeom prst="line">
            <a:avLst/>
          </a:prstGeom>
          <a:noFill/>
          <a:ln w="22225">
            <a:solidFill>
              <a:srgbClr val="5B677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035040" y="1920240"/>
            <a:ext cx="548640" cy="0"/>
          </a:xfrm>
          <a:prstGeom prst="line">
            <a:avLst/>
          </a:prstGeom>
          <a:noFill/>
          <a:ln w="22225">
            <a:solidFill>
              <a:srgbClr val="5B6773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583680" y="3383280"/>
            <a:ext cx="-548640" cy="0"/>
          </a:xfrm>
          <a:prstGeom prst="line">
            <a:avLst/>
          </a:prstGeom>
          <a:noFill/>
          <a:ln w="22225">
            <a:solidFill>
              <a:srgbClr val="5B677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48640" y="420624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1E262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48640" y="42062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data store (data/raw)  ·  REST: /cases  /network  /risk  /alerts  /hierarchy  /brief-data  /fir-brief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record becomes a node or an edge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45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cases.csv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1645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rows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12848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2128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identities.csv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22128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520 rows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779776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277977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devices.csv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277977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520 rows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346704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3467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transactions.csv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194560" y="334670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501 rows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913632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9136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calls.csv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194560" y="39136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471 rows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91840" y="3017520"/>
            <a:ext cx="457200" cy="0"/>
          </a:xfrm>
          <a:prstGeom prst="line">
            <a:avLst/>
          </a:prstGeom>
          <a:noFill/>
          <a:ln w="22225">
            <a:solidFill>
              <a:srgbClr val="5B6773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3931920" y="1325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MULTIDIGRAPH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931920" y="164592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2161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931920" y="1645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120640" y="164592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E4572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120640" y="1645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360" y="164592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F9E8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09360" y="1645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498080" y="164592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F2A93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498080" y="1645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931920" y="2212848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7A5C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931920" y="22128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120640" y="2212848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2F80E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120640" y="22128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09360" y="2212848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8A94A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309360" y="22128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3931920" y="28803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Links: owns_account · has_phone · uses_device · sent_transaction / received_by · originated_on · made_call / received_call, plus direct account→account and phone→phone edges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931920" y="3749040"/>
            <a:ext cx="4663440" cy="822960"/>
          </a:xfrm>
          <a:prstGeom prst="roundRect">
            <a:avLst>
              <a:gd name="adj" fmla="val 8889"/>
            </a:avLst>
          </a:prstGeom>
          <a:solidFill>
            <a:srgbClr val="12161C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3931920" y="37947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 nodes · 72 edges</a:t>
            </a:r>
            <a:endParaRPr lang="en-US" sz="2200" dirty="0"/>
          </a:p>
        </p:txBody>
      </p:sp>
      <p:sp>
        <p:nvSpPr>
          <p:cNvPr id="39" name="Text 37"/>
          <p:cNvSpPr txBox="1"/>
          <p:nvPr/>
        </p:nvSpPr>
        <p:spPr>
          <a:xfrm>
            <a:off x="3931920" y="42245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example: CASE008 (Ranchi)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DETECTION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detectors, each with a weight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48132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81328"/>
            <a:ext cx="1261872" cy="256032"/>
          </a:xfrm>
          <a:prstGeom prst="roundRect">
            <a:avLst>
              <a:gd name="adj" fmla="val 28571"/>
            </a:avLst>
          </a:prstGeom>
          <a:solidFill>
            <a:srgbClr val="E457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48132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·  +15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74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Device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30428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device, several identities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76272" y="1371600"/>
            <a:ext cx="148132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1481328"/>
            <a:ext cx="1261872" cy="256032"/>
          </a:xfrm>
          <a:prstGeom prst="roundRect">
            <a:avLst>
              <a:gd name="adj" fmla="val 28571"/>
            </a:avLst>
          </a:prstGeom>
          <a:solidFill>
            <a:srgbClr val="E457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286000" y="148132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·  +15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1874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OTP Relay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286000" y="230428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tagged otp_relay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03904" y="1371600"/>
            <a:ext cx="148132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13632" y="1481328"/>
            <a:ext cx="1261872" cy="256032"/>
          </a:xfrm>
          <a:prstGeom prst="roundRect">
            <a:avLst>
              <a:gd name="adj" fmla="val 28571"/>
            </a:avLst>
          </a:prstGeom>
          <a:solidFill>
            <a:srgbClr val="E457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913632" y="148132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·  +15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913632" y="1874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Caller-ID Spoof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913632" y="230428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Spoofed caller ID suspected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31536" y="1371600"/>
            <a:ext cx="148132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41264" y="1481328"/>
            <a:ext cx="1261872" cy="256032"/>
          </a:xfrm>
          <a:prstGeom prst="roundRect">
            <a:avLst>
              <a:gd name="adj" fmla="val 28571"/>
            </a:avLst>
          </a:prstGeom>
          <a:solidFill>
            <a:srgbClr val="E4572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541264" y="148132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·  +15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541264" y="1874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Cycle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541264" y="230428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returns: A→B→C→A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059168" y="1371600"/>
            <a:ext cx="148132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68896" y="1481328"/>
            <a:ext cx="1261872" cy="256032"/>
          </a:xfrm>
          <a:prstGeom prst="roundRect">
            <a:avLst>
              <a:gd name="adj" fmla="val 28571"/>
            </a:avLst>
          </a:prstGeom>
          <a:solidFill>
            <a:srgbClr val="E4572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68896" y="148132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·  +12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168896" y="1874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Fan-Out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168896" y="230428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 pays 2+ receivers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2971800"/>
            <a:ext cx="148132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" y="3081528"/>
            <a:ext cx="1261872" cy="256032"/>
          </a:xfrm>
          <a:prstGeom prst="roundRect">
            <a:avLst>
              <a:gd name="adj" fmla="val 28571"/>
            </a:avLst>
          </a:prstGeom>
          <a:solidFill>
            <a:srgbClr val="E457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8368" y="308152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·  +12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" y="3474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Layering Chain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58368" y="390448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path of 3+ transfers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176272" y="2971800"/>
            <a:ext cx="148132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86000" y="3081528"/>
            <a:ext cx="1261872" cy="256032"/>
          </a:xfrm>
          <a:prstGeom prst="roundRect">
            <a:avLst>
              <a:gd name="adj" fmla="val 28571"/>
            </a:avLst>
          </a:prstGeom>
          <a:solidFill>
            <a:srgbClr val="F2A93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2286000" y="308152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 ·  +6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2286000" y="3474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Risk-Flagged Devices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2286000" y="390448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carrying a risk flag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803904" y="2971800"/>
            <a:ext cx="148132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913632" y="3081528"/>
            <a:ext cx="1261872" cy="256032"/>
          </a:xfrm>
          <a:prstGeom prst="roundRect">
            <a:avLst>
              <a:gd name="adj" fmla="val 28571"/>
            </a:avLst>
          </a:prstGeom>
          <a:solidFill>
            <a:srgbClr val="F2A93B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3913632" y="308152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 ·  +6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3913632" y="3474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 Fraud Flag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3913632" y="390448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flagged in past cases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31536" y="2971800"/>
            <a:ext cx="148132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541264" y="3081528"/>
            <a:ext cx="1261872" cy="256032"/>
          </a:xfrm>
          <a:prstGeom prst="roundRect">
            <a:avLst>
              <a:gd name="adj" fmla="val 28571"/>
            </a:avLst>
          </a:prstGeom>
          <a:solidFill>
            <a:srgbClr val="F2A93B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5541264" y="308152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 ·  +5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5541264" y="3474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 Loop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5541264" y="390448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cycle among 3+ phones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059168" y="2971800"/>
            <a:ext cx="148132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168896" y="3081528"/>
            <a:ext cx="1261872" cy="256032"/>
          </a:xfrm>
          <a:prstGeom prst="roundRect">
            <a:avLst>
              <a:gd name="adj" fmla="val 28571"/>
            </a:avLst>
          </a:prstGeom>
          <a:solidFill>
            <a:srgbClr val="F2A93B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7168896" y="308152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 ·  +3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7168896" y="3474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Beneficiary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7168896" y="390448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to newly added payees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Detectors use only observed evidence. The dataset's is_fraudulent label and case pattern label are never fed into detection or scoring.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&amp; PRIORITY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runs the network, and what to work first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E457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KINGPIN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74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in dataset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2240280"/>
            <a:ext cx="0" cy="182880"/>
          </a:xfrm>
          <a:prstGeom prst="line">
            <a:avLst/>
          </a:prstGeom>
          <a:noFill/>
          <a:ln w="22225">
            <a:solidFill>
              <a:srgbClr val="5B677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48640" y="242316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2A9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560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MULES · Level 1 to 6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926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 in dataset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68880" y="3291840"/>
            <a:ext cx="0" cy="182880"/>
          </a:xfrm>
          <a:prstGeom prst="line">
            <a:avLst/>
          </a:prstGeom>
          <a:noFill/>
          <a:ln w="22225">
            <a:solidFill>
              <a:srgbClr val="5B677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" y="347472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1F9E8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611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VICTIMS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977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in dataset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526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identity carries a role and mule level. Funds flow victim → mules → kingpin.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13258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PRIORITY SCORE (0–100)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645920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E457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92040" y="1645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1645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and above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212848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F2A93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92040" y="22128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22128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to 59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2779776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1F9E8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892040" y="277977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277977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to 39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3346704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8A94A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892040" y="334670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0" y="334670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20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754880" y="40233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come from signal weights with per-category caps, so repeated evidence cannot inflate the score. It ranks investigative priority; it is not a probability of guilt.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 DASHBOARD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screen from evidence to graph to brief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7860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53619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F9E8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36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selector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0574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all 100 cases; loads brief, network and FIR in parallel.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73552" y="1371600"/>
            <a:ext cx="257860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38144" y="153619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457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38144" y="1536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913632" y="1536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banner + metrics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38144" y="20574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band, score, evidence count and network size at a glance.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98464" y="1371600"/>
            <a:ext cx="257860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63056" y="153619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F9E8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63056" y="1536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638544" y="1536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→ graph focus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163056" y="20574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 evidence item and its nodes highlight in the network.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063240"/>
            <a:ext cx="257860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32278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4572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2278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network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" y="37490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ReactFlow graph with zoom, minimap and a colour-coded legend.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73552" y="3063240"/>
            <a:ext cx="257860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38144" y="32278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F9E8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438144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913632" y="32278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Hierarchy cards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438144" y="37490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Kingpin, mule level and victim with phone and account.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998464" y="3063240"/>
            <a:ext cx="257860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63056" y="32278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457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163056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638544" y="32278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Actions + printable FIR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163056" y="37490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Ordered, de-duplicated actions and a one-click print of the brief.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 BRIEF &amp; IBM TECHNOLOGY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brief an officer can act on, built with IBM 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40480" cy="3291840"/>
          </a:xfrm>
          <a:prstGeom prst="roundRect">
            <a:avLst>
              <a:gd name="adj" fmla="val 2222"/>
            </a:avLst>
          </a:prstGeom>
          <a:solidFill>
            <a:srgbClr val="1216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 brief contents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20240"/>
            <a:ext cx="3429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narrative (watsonx Granite)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and accused list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transaction exhibit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signals with severity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sections: IT Act 66C/66D, IPC 419/420/120B, PMLA 3/4, CrPC 102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actions: CDR requests, freezes, CEIR check, FIU-IND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840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4813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9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watsonx.ai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801368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ibm/granite-3-8b-instruct via REST at temperature 0.2. The prompt allows only supplied evidence, says 'alleged', and never concludes guilt. If credentials or the call fail, a template narrative takes over.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3108960"/>
            <a:ext cx="3840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37760" y="32186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Bob + MCP server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3538728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get_case_investigation lets Bob pull a case report. An allow-list keeps only approved fields, so raw account numbers and IP addresses never reach Bob.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NEXT STEPS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engine shows on 100 mock cases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91640" y="1463040"/>
            <a:ext cx="274320" cy="320040"/>
          </a:xfrm>
          <a:prstGeom prst="roundRect">
            <a:avLst>
              <a:gd name="adj" fmla="val 26667"/>
            </a:avLst>
          </a:prstGeom>
          <a:solidFill>
            <a:srgbClr val="E457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057400" y="14173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659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91640" y="2011680"/>
            <a:ext cx="1705555" cy="320040"/>
          </a:xfrm>
          <a:prstGeom prst="roundRect">
            <a:avLst>
              <a:gd name="adj" fmla="val 22857"/>
            </a:avLst>
          </a:prstGeom>
          <a:solidFill>
            <a:srgbClr val="F2A9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88635" y="19659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5146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91640" y="2560320"/>
            <a:ext cx="2377440" cy="320040"/>
          </a:xfrm>
          <a:prstGeom prst="roundRect">
            <a:avLst>
              <a:gd name="adj" fmla="val 22857"/>
            </a:avLst>
          </a:prstGeom>
          <a:solidFill>
            <a:srgbClr val="1F9E8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160520" y="25146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0632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691640" y="3108960"/>
            <a:ext cx="826936" cy="320040"/>
          </a:xfrm>
          <a:prstGeom prst="roundRect">
            <a:avLst>
              <a:gd name="adj" fmla="val 22857"/>
            </a:avLst>
          </a:prstGeom>
          <a:solidFill>
            <a:srgbClr val="8A94A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610016" y="30632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1E262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37033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of 85 fraud cases rank MEDIUM or above; all 15 legitimate cases rank LOW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1371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164592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is structured CSV, not free text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a ranked set of signals, not one pattern label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data; a decision aid, not proof of guilt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29260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120640" y="320040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Granite-based extraction from raw text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Centrality analysis to confirm the kingpin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bank and telecom feeds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FRAUDGRAPH - Cyber Fraud Network Analyzer</dc:title>
  <dc:subject>PptxGenJS Presentation</dc:subject>
  <dc:creator>PptxGenJS</dc:creator>
  <cp:lastModifiedBy>PptxGenJS</cp:lastModifiedBy>
  <cp:revision>1</cp:revision>
  <dcterms:created xsi:type="dcterms:W3CDTF">2026-09-28T09:24:06Z</dcterms:created>
  <dcterms:modified xsi:type="dcterms:W3CDTF">2026-09-28T09:24:06Z</dcterms:modified>
</cp:coreProperties>
</file>